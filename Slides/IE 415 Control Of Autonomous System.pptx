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Canva Sans" charset="1" panose="020B0503030501040103"/>
      <p:regular r:id="rId27"/>
    </p:embeddedFont>
    <p:embeddedFont>
      <p:font typeface="Canva Sans Bold" charset="1" panose="020B08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jpeg" Type="http://schemas.openxmlformats.org/officeDocument/2006/relationships/image"/><Relationship Id="rId5" Target="../media/VAGWRzXi1kA.mp4" Type="http://schemas.openxmlformats.org/officeDocument/2006/relationships/video"/><Relationship Id="rId6" Target="../media/VAGWRzXi1kA.mp4" Type="http://schemas.microsoft.com/office/2007/relationships/media"/><Relationship Id="rId7" Target="../media/image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2873" y="3035914"/>
            <a:ext cx="4215172" cy="4215172"/>
          </a:xfrm>
          <a:custGeom>
            <a:avLst/>
            <a:gdLst/>
            <a:ahLst/>
            <a:cxnLst/>
            <a:rect r="r" b="b" t="t" l="l"/>
            <a:pathLst>
              <a:path h="4215172" w="4215172">
                <a:moveTo>
                  <a:pt x="0" y="0"/>
                </a:moveTo>
                <a:lnTo>
                  <a:pt x="4215172" y="0"/>
                </a:lnTo>
                <a:lnTo>
                  <a:pt x="4215172" y="4215172"/>
                </a:lnTo>
                <a:lnTo>
                  <a:pt x="0" y="4215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48756" y="5575259"/>
            <a:ext cx="5530431" cy="79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Jal Dani 202201315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43977" y="1360689"/>
            <a:ext cx="11069656" cy="136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7"/>
              </a:lnSpc>
            </a:pPr>
            <a:r>
              <a:rPr lang="en-US" sz="392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 Feedback Control and Observer Design for a 2 DOF Robotic Arm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48756" y="3878497"/>
            <a:ext cx="7925481" cy="578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2"/>
              </a:lnSpc>
            </a:pPr>
            <a:r>
              <a:rPr lang="en-US" sz="3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IE415 Control Of Autonomous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48756" y="4626447"/>
            <a:ext cx="5112572" cy="78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6"/>
              </a:lnSpc>
            </a:pPr>
            <a:r>
              <a:rPr lang="en-US" sz="46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Prof. Sujay Kadam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937418" y="2129809"/>
            <a:ext cx="11301259" cy="6027382"/>
          </a:xfrm>
          <a:custGeom>
            <a:avLst/>
            <a:gdLst/>
            <a:ahLst/>
            <a:cxnLst/>
            <a:rect r="r" b="b" t="t" l="l"/>
            <a:pathLst>
              <a:path h="6027382" w="11301259">
                <a:moveTo>
                  <a:pt x="0" y="0"/>
                </a:moveTo>
                <a:lnTo>
                  <a:pt x="11301259" y="0"/>
                </a:lnTo>
                <a:lnTo>
                  <a:pt x="11301259" y="6027382"/>
                </a:lnTo>
                <a:lnTo>
                  <a:pt x="0" y="60273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12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73606" y="1717759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8" y="0"/>
                </a:lnTo>
                <a:lnTo>
                  <a:pt x="8836078" y="5809721"/>
                </a:lnTo>
                <a:lnTo>
                  <a:pt x="0" y="5809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09387" y="2696023"/>
            <a:ext cx="6964263" cy="4831457"/>
          </a:xfrm>
          <a:custGeom>
            <a:avLst/>
            <a:gdLst/>
            <a:ahLst/>
            <a:cxnLst/>
            <a:rect r="r" b="b" t="t" l="l"/>
            <a:pathLst>
              <a:path h="4831457" w="6964263">
                <a:moveTo>
                  <a:pt x="0" y="0"/>
                </a:moveTo>
                <a:lnTo>
                  <a:pt x="6964263" y="0"/>
                </a:lnTo>
                <a:lnTo>
                  <a:pt x="6964263" y="4831457"/>
                </a:lnTo>
                <a:lnTo>
                  <a:pt x="0" y="4831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76009" y="1028700"/>
            <a:ext cx="11946895" cy="7646013"/>
          </a:xfrm>
          <a:custGeom>
            <a:avLst/>
            <a:gdLst/>
            <a:ahLst/>
            <a:cxnLst/>
            <a:rect r="r" b="b" t="t" l="l"/>
            <a:pathLst>
              <a:path h="7646013" w="11946895">
                <a:moveTo>
                  <a:pt x="0" y="0"/>
                </a:moveTo>
                <a:lnTo>
                  <a:pt x="11946895" y="0"/>
                </a:lnTo>
                <a:lnTo>
                  <a:pt x="11946895" y="7646013"/>
                </a:lnTo>
                <a:lnTo>
                  <a:pt x="0" y="7646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78030" y="2326732"/>
            <a:ext cx="13758460" cy="6070921"/>
          </a:xfrm>
          <a:custGeom>
            <a:avLst/>
            <a:gdLst/>
            <a:ahLst/>
            <a:cxnLst/>
            <a:rect r="r" b="b" t="t" l="l"/>
            <a:pathLst>
              <a:path h="6070921" w="13758460">
                <a:moveTo>
                  <a:pt x="0" y="0"/>
                </a:moveTo>
                <a:lnTo>
                  <a:pt x="13758461" y="0"/>
                </a:lnTo>
                <a:lnTo>
                  <a:pt x="13758461" y="6070921"/>
                </a:lnTo>
                <a:lnTo>
                  <a:pt x="0" y="607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236837" y="1806496"/>
            <a:ext cx="11169888" cy="6674008"/>
          </a:xfrm>
          <a:custGeom>
            <a:avLst/>
            <a:gdLst/>
            <a:ahLst/>
            <a:cxnLst/>
            <a:rect r="r" b="b" t="t" l="l"/>
            <a:pathLst>
              <a:path h="6674008" w="11169888">
                <a:moveTo>
                  <a:pt x="0" y="0"/>
                </a:moveTo>
                <a:lnTo>
                  <a:pt x="11169888" y="0"/>
                </a:lnTo>
                <a:lnTo>
                  <a:pt x="11169888" y="6674008"/>
                </a:lnTo>
                <a:lnTo>
                  <a:pt x="0" y="667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650499" y="377888"/>
            <a:ext cx="9996627" cy="8672074"/>
          </a:xfrm>
          <a:custGeom>
            <a:avLst/>
            <a:gdLst/>
            <a:ahLst/>
            <a:cxnLst/>
            <a:rect r="r" b="b" t="t" l="l"/>
            <a:pathLst>
              <a:path h="8672074" w="9996627">
                <a:moveTo>
                  <a:pt x="0" y="0"/>
                </a:moveTo>
                <a:lnTo>
                  <a:pt x="9996627" y="0"/>
                </a:lnTo>
                <a:lnTo>
                  <a:pt x="9996627" y="8672074"/>
                </a:lnTo>
                <a:lnTo>
                  <a:pt x="0" y="8672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66590" y="514350"/>
            <a:ext cx="10572827" cy="8471478"/>
          </a:xfrm>
          <a:custGeom>
            <a:avLst/>
            <a:gdLst/>
            <a:ahLst/>
            <a:cxnLst/>
            <a:rect r="r" b="b" t="t" l="l"/>
            <a:pathLst>
              <a:path h="8471478" w="10572827">
                <a:moveTo>
                  <a:pt x="0" y="0"/>
                </a:moveTo>
                <a:lnTo>
                  <a:pt x="10572827" y="0"/>
                </a:lnTo>
                <a:lnTo>
                  <a:pt x="10572827" y="8471478"/>
                </a:lnTo>
                <a:lnTo>
                  <a:pt x="0" y="8471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106928" y="894868"/>
            <a:ext cx="12757932" cy="7702601"/>
          </a:xfrm>
          <a:custGeom>
            <a:avLst/>
            <a:gdLst/>
            <a:ahLst/>
            <a:cxnLst/>
            <a:rect r="r" b="b" t="t" l="l"/>
            <a:pathLst>
              <a:path h="7702601" w="12757932">
                <a:moveTo>
                  <a:pt x="0" y="0"/>
                </a:moveTo>
                <a:lnTo>
                  <a:pt x="12757932" y="0"/>
                </a:lnTo>
                <a:lnTo>
                  <a:pt x="12757932" y="7702601"/>
                </a:lnTo>
                <a:lnTo>
                  <a:pt x="0" y="7702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74319" y="645880"/>
            <a:ext cx="83059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Of Freedom (DOF)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1943399"/>
            <a:ext cx="17492270" cy="667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2"/>
              </a:lnSpc>
            </a:pP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(a) </a:t>
            </a:r>
            <a:r>
              <a:rPr lang="en-US" sz="3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of freedom of a point in space:</a:t>
            </a: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➤ Degree of freedom (DOF) of a point is the number of indeoendent coordinates required to define the position and orientation of a point.</a:t>
            </a: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➤ Thus a point in space has only three degrees of freedom or three coordinates are required to define its position. The point P can be uniquely defined by specifying its three co-ordinates x, y and z.</a:t>
            </a: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(b) </a:t>
            </a:r>
            <a:r>
              <a:rPr lang="en-US" sz="34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Degree of freedom (DOF) of a rigid body :</a:t>
            </a: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➤ Consider a rigid body moving in space as shown in Fig. 1.34. This rigid body have possesses following independent motion.</a:t>
            </a:r>
          </a:p>
          <a:p>
            <a:pPr algn="ctr">
              <a:lnSpc>
                <a:spcPts val="4852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Translation motions along any three perpendicular axis x, y and z.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786076"/>
            <a:ext cx="18288000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 Three rotational motions about the axis x, y and z. Thus degree of freedom of rigid body have six degree of freedom in free space.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(c) Degree of freedom (DOF) of a mechanism 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➤ A mechanism can also have several degree of freedom (DOF).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degree of freedom (DOF) of a mechanism is decided by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degree of freedom (DOF) of the links constituting that mechanism. Accordingly, we can classify mechanism under two general categories as follows: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Spatial mechanism.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 Planner mechanism.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874882" y="1533525"/>
            <a:ext cx="12538237" cy="8753475"/>
          </a:xfrm>
          <a:custGeom>
            <a:avLst/>
            <a:gdLst/>
            <a:ahLst/>
            <a:cxnLst/>
            <a:rect r="r" b="b" t="t" l="l"/>
            <a:pathLst>
              <a:path h="8753475" w="12538237">
                <a:moveTo>
                  <a:pt x="0" y="0"/>
                </a:moveTo>
                <a:lnTo>
                  <a:pt x="12538236" y="0"/>
                </a:lnTo>
                <a:lnTo>
                  <a:pt x="12538236" y="8753475"/>
                </a:lnTo>
                <a:lnTo>
                  <a:pt x="0" y="8753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30828" y="419100"/>
            <a:ext cx="605522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DOF Manipulator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64884" y="1028700"/>
            <a:ext cx="12564280" cy="8637942"/>
          </a:xfrm>
          <a:custGeom>
            <a:avLst/>
            <a:gdLst/>
            <a:ahLst/>
            <a:cxnLst/>
            <a:rect r="r" b="b" t="t" l="l"/>
            <a:pathLst>
              <a:path h="8637942" w="12564280">
                <a:moveTo>
                  <a:pt x="0" y="0"/>
                </a:moveTo>
                <a:lnTo>
                  <a:pt x="12564280" y="0"/>
                </a:lnTo>
                <a:lnTo>
                  <a:pt x="12564280" y="8637942"/>
                </a:lnTo>
                <a:lnTo>
                  <a:pt x="0" y="8637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473645" y="377888"/>
            <a:ext cx="12631292" cy="9500770"/>
          </a:xfrm>
          <a:custGeom>
            <a:avLst/>
            <a:gdLst/>
            <a:ahLst/>
            <a:cxnLst/>
            <a:rect r="r" b="b" t="t" l="l"/>
            <a:pathLst>
              <a:path h="9500770" w="12631292">
                <a:moveTo>
                  <a:pt x="0" y="0"/>
                </a:moveTo>
                <a:lnTo>
                  <a:pt x="12631292" y="0"/>
                </a:lnTo>
                <a:lnTo>
                  <a:pt x="12631292" y="9500770"/>
                </a:lnTo>
                <a:lnTo>
                  <a:pt x="0" y="9500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99903" y="1435842"/>
            <a:ext cx="9447212" cy="7831983"/>
          </a:xfrm>
          <a:custGeom>
            <a:avLst/>
            <a:gdLst/>
            <a:ahLst/>
            <a:cxnLst/>
            <a:rect r="r" b="b" t="t" l="l"/>
            <a:pathLst>
              <a:path h="7831983" w="9447212">
                <a:moveTo>
                  <a:pt x="0" y="0"/>
                </a:moveTo>
                <a:lnTo>
                  <a:pt x="9447212" y="0"/>
                </a:lnTo>
                <a:lnTo>
                  <a:pt x="9447212" y="7831983"/>
                </a:lnTo>
                <a:lnTo>
                  <a:pt x="0" y="7831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06811" y="282638"/>
            <a:ext cx="79533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Robo arm 2D Trajectory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028700" y="2600706"/>
            <a:ext cx="16230600" cy="5085588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70546" y="933450"/>
            <a:ext cx="842590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Robo arm Simulink Result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633514" y="1532975"/>
            <a:ext cx="9728326" cy="5732139"/>
          </a:xfrm>
          <a:custGeom>
            <a:avLst/>
            <a:gdLst/>
            <a:ahLst/>
            <a:cxnLst/>
            <a:rect r="r" b="b" t="t" l="l"/>
            <a:pathLst>
              <a:path h="5732139" w="9728326">
                <a:moveTo>
                  <a:pt x="0" y="0"/>
                </a:moveTo>
                <a:lnTo>
                  <a:pt x="9728326" y="0"/>
                </a:lnTo>
                <a:lnTo>
                  <a:pt x="9728326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26160" y="645880"/>
            <a:ext cx="104356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DOF Simscape Matlab Results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3306" y="7470330"/>
            <a:ext cx="15421389" cy="182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sz="34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shows a signal that spikes initially and then settles to zero, which represent an impulse response or a damped system reaching equilibrium (possibly acceleration or force on one DOF).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556611" y="2088252"/>
            <a:ext cx="12627959" cy="4883951"/>
          </a:xfrm>
          <a:custGeom>
            <a:avLst/>
            <a:gdLst/>
            <a:ahLst/>
            <a:cxnLst/>
            <a:rect r="r" b="b" t="t" l="l"/>
            <a:pathLst>
              <a:path h="4883951" w="12627959">
                <a:moveTo>
                  <a:pt x="0" y="0"/>
                </a:moveTo>
                <a:lnTo>
                  <a:pt x="12627959" y="0"/>
                </a:lnTo>
                <a:lnTo>
                  <a:pt x="12627959" y="4883951"/>
                </a:lnTo>
                <a:lnTo>
                  <a:pt x="0" y="4883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26160" y="645880"/>
            <a:ext cx="104356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DOF Simscape Matlab Results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3306" y="7470330"/>
            <a:ext cx="15421389" cy="182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sz="347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graph shows a single signal rising, holding a plateau, and then decreasing symmetrically, which is characteristic of a displacement or position signal that follows a trajectory over time.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59703" y="1965466"/>
            <a:ext cx="8904367" cy="7807222"/>
          </a:xfrm>
          <a:custGeom>
            <a:avLst/>
            <a:gdLst/>
            <a:ahLst/>
            <a:cxnLst/>
            <a:rect r="r" b="b" t="t" l="l"/>
            <a:pathLst>
              <a:path h="7807222" w="8904367">
                <a:moveTo>
                  <a:pt x="0" y="0"/>
                </a:moveTo>
                <a:lnTo>
                  <a:pt x="8904367" y="0"/>
                </a:lnTo>
                <a:lnTo>
                  <a:pt x="8904367" y="7807221"/>
                </a:lnTo>
                <a:lnTo>
                  <a:pt x="0" y="7807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26160" y="645880"/>
            <a:ext cx="104356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 DOF Simscape Matlab Results 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9838" y="7527480"/>
            <a:ext cx="47625" cy="1740345"/>
            <a:chOff x="0" y="0"/>
            <a:chExt cx="12543" cy="458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458362"/>
            </a:xfrm>
            <a:custGeom>
              <a:avLst/>
              <a:gdLst/>
              <a:ahLst/>
              <a:cxnLst/>
              <a:rect r="r" b="b" t="t" l="l"/>
              <a:pathLst>
                <a:path h="458362" w="12543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3588" y="377888"/>
            <a:ext cx="369285" cy="363243"/>
          </a:xfrm>
          <a:custGeom>
            <a:avLst/>
            <a:gdLst/>
            <a:ahLst/>
            <a:cxnLst/>
            <a:rect r="r" b="b" t="t" l="l"/>
            <a:pathLst>
              <a:path h="363243" w="369285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028700" cy="1028700"/>
            <a:chOff x="0" y="0"/>
            <a:chExt cx="27093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9300" y="9258300"/>
            <a:ext cx="1028700" cy="1028700"/>
            <a:chOff x="0" y="0"/>
            <a:chExt cx="270933" cy="270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0933" cy="270933"/>
            </a:xfrm>
            <a:custGeom>
              <a:avLst/>
              <a:gdLst/>
              <a:ahLst/>
              <a:cxnLst/>
              <a:rect r="r" b="b" t="t" l="l"/>
              <a:pathLst>
                <a:path h="2709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true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99918" y="9638067"/>
            <a:ext cx="54746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1934" y="91934"/>
            <a:ext cx="1873531" cy="1873531"/>
          </a:xfrm>
          <a:custGeom>
            <a:avLst/>
            <a:gdLst/>
            <a:ahLst/>
            <a:cxnLst/>
            <a:rect r="r" b="b" t="t" l="l"/>
            <a:pathLst>
              <a:path h="1873531" w="1873531">
                <a:moveTo>
                  <a:pt x="0" y="0"/>
                </a:moveTo>
                <a:lnTo>
                  <a:pt x="1873532" y="0"/>
                </a:lnTo>
                <a:lnTo>
                  <a:pt x="1873532" y="1873532"/>
                </a:lnTo>
                <a:lnTo>
                  <a:pt x="0" y="1873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34509" y="3907414"/>
            <a:ext cx="9612957" cy="254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28"/>
              </a:lnSpc>
            </a:pPr>
            <a:r>
              <a:rPr lang="en-US" sz="14877" b="true">
                <a:solidFill>
                  <a:srgbClr val="02CD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DAGWQItuu3w</dc:identifier>
  <dcterms:modified xsi:type="dcterms:W3CDTF">2011-08-01T06:04:30Z</dcterms:modified>
  <cp:revision>1</cp:revision>
  <dc:title>IE 415 Control Of Autonomous System</dc:title>
</cp:coreProperties>
</file>